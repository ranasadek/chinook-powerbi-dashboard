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 Tight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 Tight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65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7086"/>
            <a:ext cx="14630400" cy="82296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2233" y="1080254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22233" y="1442561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22233" y="1860828"/>
            <a:ext cx="8405813" cy="100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6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Digital Media Store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22233" y="3093125"/>
            <a:ext cx="8405813" cy="100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6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Performance Analytics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722233" y="4325422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Leverage Data-Driven Insights — Chinook BI Documentation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233" y="4687729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Empower Businesses to make Data-Driven Decisions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2233" y="5050036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Comprehensive Database &amp; Business Intelligence Documentation</a:t>
            </a:r>
            <a:endParaRPr lang="ar-EG" sz="1350" dirty="0">
              <a:solidFill>
                <a:srgbClr val="B5B5B5"/>
              </a:solidFill>
              <a:latin typeface="Inter Tight" pitchFamily="34" charset="0"/>
              <a:ea typeface="Inter Tight" pitchFamily="34" charset="-122"/>
              <a:cs typeface="Inter Tight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ar-EG" sz="1350" dirty="0">
              <a:solidFill>
                <a:srgbClr val="B5B5B5"/>
              </a:solidFill>
              <a:latin typeface="Inter Tight" pitchFamily="34" charset="0"/>
              <a:ea typeface="Inter Tight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2233" y="5412343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22233" y="5908834"/>
            <a:ext cx="63790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536775" y="6592253"/>
            <a:ext cx="63790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22233" y="7088743"/>
            <a:ext cx="131859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5A3C36-F4C9-A7A8-C6B7-ED21D694E554}"/>
              </a:ext>
            </a:extLst>
          </p:cNvPr>
          <p:cNvSpPr/>
          <p:nvPr/>
        </p:nvSpPr>
        <p:spPr>
          <a:xfrm>
            <a:off x="4519435" y="5904487"/>
            <a:ext cx="4605454" cy="118425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endParaRPr lang="ar-EG" sz="1600" dirty="0">
              <a:solidFill>
                <a:srgbClr val="B5B5B5"/>
              </a:solidFill>
              <a:latin typeface="Inter Tight" pitchFamily="34" charset="0"/>
              <a:ea typeface="Inter Tight" pitchFamily="34" charset="-122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</a:rPr>
              <a:t>Made By:</a:t>
            </a:r>
            <a:endParaRPr lang="en-US" sz="1600" dirty="0"/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Youmna ,</a:t>
            </a:r>
            <a:r>
              <a:rPr lang="en-US" sz="2400" b="1" dirty="0" smtClean="0">
                <a:solidFill>
                  <a:schemeClr val="tx1"/>
                </a:solidFill>
              </a:rPr>
              <a:t>Rana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86038"/>
            <a:ext cx="5446157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 of Contents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233" y="1711881"/>
            <a:ext cx="1318593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233" y="2360057"/>
            <a:ext cx="7720132" cy="1261586"/>
          </a:xfrm>
          <a:prstGeom prst="roundRect">
            <a:avLst>
              <a:gd name="adj" fmla="val 8698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373" y="2360057"/>
            <a:ext cx="91440" cy="1261586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9650" y="2578894"/>
            <a:ext cx="357282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01 · Data Understanding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09650" y="3173492"/>
            <a:ext cx="721387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Chinook Digital Media Dataset Overview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233" y="3807857"/>
            <a:ext cx="7720132" cy="1261586"/>
          </a:xfrm>
          <a:prstGeom prst="roundRect">
            <a:avLst>
              <a:gd name="adj" fmla="val 8698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373" y="3807857"/>
            <a:ext cx="91440" cy="1261586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9650" y="4026694"/>
            <a:ext cx="5442585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02 · Detailed Column Characteristics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009650" y="4621292"/>
            <a:ext cx="721387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Sales Facts · Product Dimensions · People Dimensions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233" y="5255657"/>
            <a:ext cx="7720132" cy="1261586"/>
          </a:xfrm>
          <a:prstGeom prst="roundRect">
            <a:avLst>
              <a:gd name="adj" fmla="val 8698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9373" y="5255657"/>
            <a:ext cx="91440" cy="1261586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9650" y="5474494"/>
            <a:ext cx="6045637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03 · Data Modelling (Snowflake Schema)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009650" y="6069092"/>
            <a:ext cx="7213878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Normalized schema structure and logical flow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28378" y="2360057"/>
            <a:ext cx="4987290" cy="1669971"/>
          </a:xfrm>
          <a:prstGeom prst="roundRect">
            <a:avLst>
              <a:gd name="adj" fmla="val 6571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05518" y="2360057"/>
            <a:ext cx="91440" cy="1669971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15795" y="2578894"/>
            <a:ext cx="4481036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04 · Creating Advanced Measures (DAX)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9215795" y="3581876"/>
            <a:ext cx="4481036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KPIs, Revenue Metrics, Growth Calculations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28378" y="4216241"/>
            <a:ext cx="4987290" cy="1669971"/>
          </a:xfrm>
          <a:prstGeom prst="roundRect">
            <a:avLst>
              <a:gd name="adj" fmla="val 6571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05518" y="4216241"/>
            <a:ext cx="91440" cy="1669971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15795" y="4435078"/>
            <a:ext cx="4481036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05 · Dashboard Building &amp; Strategy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9215795" y="5438061"/>
            <a:ext cx="4481036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Executive Summary · Catalog · Customer Insights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28378" y="6072426"/>
            <a:ext cx="4987290" cy="1261586"/>
          </a:xfrm>
          <a:prstGeom prst="roundRect">
            <a:avLst>
              <a:gd name="adj" fmla="val 8698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05518" y="6072426"/>
            <a:ext cx="91440" cy="1261586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15795" y="6291263"/>
            <a:ext cx="340387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06 · Conclusion</a:t>
            </a:r>
            <a:endParaRPr lang="en-US" sz="2650" dirty="0"/>
          </a:p>
        </p:txBody>
      </p:sp>
      <p:sp>
        <p:nvSpPr>
          <p:cNvPr id="27" name="Text 25"/>
          <p:cNvSpPr/>
          <p:nvPr/>
        </p:nvSpPr>
        <p:spPr>
          <a:xfrm>
            <a:off x="9215795" y="6885861"/>
            <a:ext cx="4481036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Technical foundation &amp; strategic outcomes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625673"/>
            <a:ext cx="4872871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Data Understanding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22233" y="1269921"/>
            <a:ext cx="5356146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Chinook Digital Media Dataset Overview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722233" y="1858923"/>
            <a:ext cx="769953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Chinook dataset represents a digital media store's operational data, including tracks, artists, invoices, and customers worldwide. This dataset is a standard for SQL and BI training because it mimics real-world complexities.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22233" y="2610564"/>
            <a:ext cx="76995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22233" y="2972872"/>
            <a:ext cx="7699534" cy="1045964"/>
          </a:xfrm>
          <a:prstGeom prst="roundRect">
            <a:avLst>
              <a:gd name="adj" fmla="val 10491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9373" y="2972872"/>
            <a:ext cx="91440" cy="1045964"/>
          </a:xfrm>
          <a:prstGeom prst="roundRect">
            <a:avLst>
              <a:gd name="adj" fmla="val 172665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9052" y="3171111"/>
            <a:ext cx="3045500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Global Reach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989052" y="3625929"/>
            <a:ext cx="7234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Transactions across North America, Europe, and Asia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22233" y="4167902"/>
            <a:ext cx="7699534" cy="1045964"/>
          </a:xfrm>
          <a:prstGeom prst="roundRect">
            <a:avLst>
              <a:gd name="adj" fmla="val 10491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9373" y="4167902"/>
            <a:ext cx="91440" cy="1045964"/>
          </a:xfrm>
          <a:prstGeom prst="roundRect">
            <a:avLst>
              <a:gd name="adj" fmla="val 172665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9052" y="4366141"/>
            <a:ext cx="3045500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Multi-Level Hierarchy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989052" y="4820960"/>
            <a:ext cx="7234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Tracks → Albums → Artists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22233" y="5362932"/>
            <a:ext cx="7699534" cy="1045964"/>
          </a:xfrm>
          <a:prstGeom prst="roundRect">
            <a:avLst>
              <a:gd name="adj" fmla="val 10491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99373" y="5362932"/>
            <a:ext cx="91440" cy="1045964"/>
          </a:xfrm>
          <a:prstGeom prst="roundRect">
            <a:avLst>
              <a:gd name="adj" fmla="val 172665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9052" y="5561171"/>
            <a:ext cx="3045500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Sales Granularity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989052" y="6015990"/>
            <a:ext cx="7234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Invoice header level and individual line-item level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2233" y="6557963"/>
            <a:ext cx="7699534" cy="1045964"/>
          </a:xfrm>
          <a:prstGeom prst="roundRect">
            <a:avLst>
              <a:gd name="adj" fmla="val 10491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99373" y="6557963"/>
            <a:ext cx="91440" cy="1045964"/>
          </a:xfrm>
          <a:prstGeom prst="roundRect">
            <a:avLst>
              <a:gd name="adj" fmla="val 172665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89052" y="6756202"/>
            <a:ext cx="3045500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CRM Integration</a:t>
            </a:r>
            <a:endParaRPr lang="en-US" sz="2350" dirty="0"/>
          </a:p>
        </p:txBody>
      </p:sp>
      <p:sp>
        <p:nvSpPr>
          <p:cNvPr id="22" name="Text 19"/>
          <p:cNvSpPr/>
          <p:nvPr/>
        </p:nvSpPr>
        <p:spPr>
          <a:xfrm>
            <a:off x="989052" y="7211020"/>
            <a:ext cx="72344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Customer–employee relationships for sales support analysis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8633" y="818317"/>
            <a:ext cx="6839188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Defining the Data Structure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6208633" y="1815822"/>
            <a:ext cx="7699534" cy="7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Chinook database is structured into </a:t>
            </a: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Fact Tables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(capturing business events and revenue) and </a:t>
            </a: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Dimension Tables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(capturing descriptive attributes). Understanding data types and constraints of each column is essential for accurate ETL and reporting.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08633" y="2790587"/>
            <a:ext cx="76995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238" y="3270290"/>
            <a:ext cx="4876324" cy="1476613"/>
          </a:xfrm>
          <a:prstGeom prst="roundRect">
            <a:avLst>
              <a:gd name="adj" fmla="val 1257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66867" y="3484245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Fact Tables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34193" y="4037886"/>
            <a:ext cx="4448413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Capture </a:t>
            </a: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business events and monetary transactions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Invoice and InvoiceLine tables.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14436" y="4850011"/>
            <a:ext cx="6287929" cy="1229082"/>
          </a:xfrm>
          <a:prstGeom prst="roundRect">
            <a:avLst>
              <a:gd name="adj" fmla="val 15113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66867" y="5063966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Product Dimensions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128391" y="5617607"/>
            <a:ext cx="5860018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Descriptive attributes for </a:t>
            </a: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Track, Album, and Artist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entities.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8633" y="6182201"/>
            <a:ext cx="7699534" cy="1229082"/>
          </a:xfrm>
          <a:prstGeom prst="roundRect">
            <a:avLst>
              <a:gd name="adj" fmla="val 15113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66867" y="6396157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People Dimensions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22588" y="6949797"/>
            <a:ext cx="7271623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Customer and Employee tables enabling </a:t>
            </a: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CRM and support analysis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16625"/>
            <a:ext cx="5732859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Sales Fact Tables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22233" y="1717238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233" y="2403277"/>
            <a:ext cx="4922758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TABLE: INVOICE (Header Level)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22233" y="3065264"/>
            <a:ext cx="6341269" cy="4067889"/>
          </a:xfrm>
          <a:prstGeom prst="roundRect">
            <a:avLst>
              <a:gd name="adj" fmla="val 456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9853" y="3072884"/>
            <a:ext cx="6326029" cy="5104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6308" y="3204329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Column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204" y="3204329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Type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35711" y="3204329"/>
            <a:ext cx="211383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9853" y="3583305"/>
            <a:ext cx="6326029" cy="757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6308" y="3714750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InvoiceId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4204" y="3714750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(PK)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5711" y="3714750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Unique identifier for each sale.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9853" y="4341257"/>
            <a:ext cx="6326029" cy="5104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6308" y="4472702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CustomerId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54204" y="4472702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5711" y="4472702"/>
            <a:ext cx="211383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Reference to the buyer.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9853" y="4851678"/>
            <a:ext cx="6326029" cy="757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6308" y="4983123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InvoiceDate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54204" y="4983123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DATETIME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5711" y="4983123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Timestamp of the purchase.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9853" y="5609630"/>
            <a:ext cx="6326029" cy="757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6308" y="5741075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BillingCountry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54204" y="5741075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VARCHAR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5711" y="5741075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Geographic location for regional analysis.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9853" y="6367582"/>
            <a:ext cx="6326029" cy="757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6308" y="6499027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Total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54204" y="6499027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NUMERIC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35711" y="6499027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Total invoice value including all line items.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74518" y="2403277"/>
            <a:ext cx="5381268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TABLE: INVOICELINE (Detail Level)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574518" y="3065264"/>
            <a:ext cx="6341269" cy="4315420"/>
          </a:xfrm>
          <a:prstGeom prst="roundRect">
            <a:avLst>
              <a:gd name="adj" fmla="val 43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82138" y="3072884"/>
            <a:ext cx="6326029" cy="5104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88593" y="3204329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Column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06489" y="3204329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Type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87996" y="3204329"/>
            <a:ext cx="211383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82138" y="3583305"/>
            <a:ext cx="6326029" cy="757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88593" y="3714750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InvoiceLineId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06489" y="3714750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(PK)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87996" y="3714750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Unique ID for each row in an invoice.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82138" y="4341257"/>
            <a:ext cx="6326029" cy="757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88593" y="4472702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InvoiceId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06489" y="4472702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587996" y="4472702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Links back to the main Invoice header.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82138" y="5099209"/>
            <a:ext cx="6326029" cy="757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88593" y="5230654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TrackId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06489" y="5230654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587996" y="5230654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Identifies the specific track purchased.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82138" y="5857161"/>
            <a:ext cx="6326029" cy="757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788593" y="5988606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UnitPrice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006489" y="5988606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NUMERIC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587996" y="5988606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Price per unit at time of sale.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82138" y="6615113"/>
            <a:ext cx="6326029" cy="757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88593" y="6746558"/>
            <a:ext cx="1797606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Quantity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06489" y="6746558"/>
            <a:ext cx="11612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587996" y="6746558"/>
            <a:ext cx="2113836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Units purchased (usually 1 for digital).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82466"/>
            <a:ext cx="5446157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Product Dimensions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233" y="1708309"/>
            <a:ext cx="1318593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22233" y="2333268"/>
            <a:ext cx="340387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TABLE: DIM_TRACK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722233" y="2951083"/>
            <a:ext cx="7036951" cy="3978593"/>
          </a:xfrm>
          <a:prstGeom prst="roundRect">
            <a:avLst>
              <a:gd name="adj" fmla="val 443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9853" y="2958703"/>
            <a:ext cx="7021711" cy="4679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6068" y="3078004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Column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953" y="3078004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02292" y="3078004"/>
            <a:ext cx="255329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9853" y="3426619"/>
            <a:ext cx="7021711" cy="4679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6068" y="3545919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TrackId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953" y="3545919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(PK)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2292" y="3545919"/>
            <a:ext cx="255329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Primary key for tracks.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9853" y="3894534"/>
            <a:ext cx="7021711" cy="4679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6068" y="4013835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953" y="4013835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VARCHAR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02292" y="4013835"/>
            <a:ext cx="255329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title of the track.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9853" y="4362450"/>
            <a:ext cx="7021711" cy="6972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6068" y="4481751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AlbumId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46953" y="4481751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02292" y="4481751"/>
            <a:ext cx="2553295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Links the track to its specific Album.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9853" y="5059680"/>
            <a:ext cx="7021711" cy="6972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6068" y="5178981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GenreId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46953" y="5178981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02292" y="5178981"/>
            <a:ext cx="2553295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Links to Genre (Rock, Jazz, etc.).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9853" y="5756910"/>
            <a:ext cx="7021711" cy="6972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6068" y="5876211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Milliseconds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953" y="5876211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02292" y="5876211"/>
            <a:ext cx="2553295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Duration of the song in milliseconds.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9853" y="6454140"/>
            <a:ext cx="7021711" cy="4679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6068" y="6573441"/>
            <a:ext cx="1921312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UnitPrice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246953" y="6573441"/>
            <a:ext cx="135576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NUMERIC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02292" y="6573441"/>
            <a:ext cx="2553295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Default selling price.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45197" y="2333268"/>
            <a:ext cx="451758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TABLE: DIM_ALBUM &amp; ARTIST</a:t>
            </a:r>
            <a:endParaRPr lang="en-US" sz="2650" dirty="0"/>
          </a:p>
        </p:txBody>
      </p:sp>
      <p:sp>
        <p:nvSpPr>
          <p:cNvPr id="35" name="Shape 33"/>
          <p:cNvSpPr/>
          <p:nvPr/>
        </p:nvSpPr>
        <p:spPr>
          <a:xfrm>
            <a:off x="8245197" y="2951083"/>
            <a:ext cx="5670471" cy="1261586"/>
          </a:xfrm>
          <a:prstGeom prst="roundRect">
            <a:avLst>
              <a:gd name="adj" fmla="val 8698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2337" y="2951083"/>
            <a:ext cx="91440" cy="1261586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32614" y="3169920"/>
            <a:ext cx="340387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Album.Title</a:t>
            </a:r>
            <a:endParaRPr lang="en-US" sz="2650" dirty="0"/>
          </a:p>
        </p:txBody>
      </p:sp>
      <p:sp>
        <p:nvSpPr>
          <p:cNvPr id="38" name="Text 36"/>
          <p:cNvSpPr/>
          <p:nvPr/>
        </p:nvSpPr>
        <p:spPr>
          <a:xfrm>
            <a:off x="8532614" y="3764518"/>
            <a:ext cx="5164217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Name of the music collection.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245197" y="4398883"/>
            <a:ext cx="5670471" cy="1261586"/>
          </a:xfrm>
          <a:prstGeom prst="roundRect">
            <a:avLst>
              <a:gd name="adj" fmla="val 8698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22337" y="4398883"/>
            <a:ext cx="91440" cy="1261586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32614" y="4617720"/>
            <a:ext cx="340387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Artist.Name</a:t>
            </a:r>
            <a:endParaRPr lang="en-US" sz="2650" dirty="0"/>
          </a:p>
        </p:txBody>
      </p:sp>
      <p:sp>
        <p:nvSpPr>
          <p:cNvPr id="42" name="Text 40"/>
          <p:cNvSpPr/>
          <p:nvPr/>
        </p:nvSpPr>
        <p:spPr>
          <a:xfrm>
            <a:off x="8532614" y="5212318"/>
            <a:ext cx="5164217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performing artist or band name.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245197" y="5846683"/>
            <a:ext cx="5670471" cy="1490901"/>
          </a:xfrm>
          <a:prstGeom prst="roundRect">
            <a:avLst>
              <a:gd name="adj" fmla="val 7360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22337" y="5846683"/>
            <a:ext cx="91440" cy="1490901"/>
          </a:xfrm>
          <a:prstGeom prst="roundRect">
            <a:avLst>
              <a:gd name="adj" fmla="val 19297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32614" y="6065520"/>
            <a:ext cx="340387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Sub-Hierarchy Note</a:t>
            </a:r>
            <a:endParaRPr lang="en-US" sz="2650" dirty="0"/>
          </a:p>
        </p:txBody>
      </p:sp>
      <p:sp>
        <p:nvSpPr>
          <p:cNvPr id="46" name="Text 44"/>
          <p:cNvSpPr/>
          <p:nvPr/>
        </p:nvSpPr>
        <p:spPr>
          <a:xfrm>
            <a:off x="8532614" y="6660118"/>
            <a:ext cx="5164217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These form a sub-hierarchy in the Snowflake schema — Album links to Artist via ArtistId (FK).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328" y="570548"/>
            <a:ext cx="8190786" cy="65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Customer &amp; Employee Dimensions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0328" y="1592699"/>
            <a:ext cx="131897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20328" y="2214563"/>
            <a:ext cx="3681174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TABLE: DIM_CUSTOMER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720328" y="2830235"/>
            <a:ext cx="7039689" cy="3029188"/>
          </a:xfrm>
          <a:prstGeom prst="roundRect">
            <a:avLst>
              <a:gd name="adj" fmla="val 580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7948" y="2837855"/>
            <a:ext cx="7024449" cy="465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3568" y="2956560"/>
            <a:ext cx="206371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Column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5899" y="2956560"/>
            <a:ext cx="135743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41952" y="2956560"/>
            <a:ext cx="2414945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7948" y="3303627"/>
            <a:ext cx="7024449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3568" y="3422333"/>
            <a:ext cx="206371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CustomerId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5899" y="3422333"/>
            <a:ext cx="135743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(PK)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41952" y="3422333"/>
            <a:ext cx="2414945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Unique customer ID.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7948" y="3769400"/>
            <a:ext cx="7024449" cy="6941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3568" y="3888105"/>
            <a:ext cx="206371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FullName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5899" y="3888105"/>
            <a:ext cx="135743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VARCHAR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1952" y="3888105"/>
            <a:ext cx="2414945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Combined First and Last name.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7948" y="4463534"/>
            <a:ext cx="7024449" cy="6941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68" y="4582239"/>
            <a:ext cx="206371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Country/City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5899" y="4582239"/>
            <a:ext cx="135743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VARCHAR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1952" y="4582239"/>
            <a:ext cx="2414945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Primary keys for geographical segmentation.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7948" y="5157668"/>
            <a:ext cx="7024449" cy="6941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3568" y="5276374"/>
            <a:ext cx="206371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SupportRepId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5899" y="5276374"/>
            <a:ext cx="135743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41952" y="5276374"/>
            <a:ext cx="2414945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Links the customer to a Sales Support Agent.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4602" y="2214563"/>
            <a:ext cx="3574613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TABLE: DIM_EMPLOYEE</a:t>
            </a:r>
            <a:endParaRPr lang="en-US" sz="2650" dirty="0"/>
          </a:p>
        </p:txBody>
      </p:sp>
      <p:sp>
        <p:nvSpPr>
          <p:cNvPr id="27" name="Shape 25"/>
          <p:cNvSpPr/>
          <p:nvPr/>
        </p:nvSpPr>
        <p:spPr>
          <a:xfrm>
            <a:off x="8244602" y="2830235"/>
            <a:ext cx="5672971" cy="2791778"/>
          </a:xfrm>
          <a:prstGeom prst="roundRect">
            <a:avLst>
              <a:gd name="adj" fmla="val 630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52222" y="2837855"/>
            <a:ext cx="5657731" cy="465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47961" y="2956560"/>
            <a:ext cx="158531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Column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431899" y="2956560"/>
            <a:ext cx="101572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Type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46243" y="2956560"/>
            <a:ext cx="1868210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252222" y="3303627"/>
            <a:ext cx="5657731" cy="6941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47961" y="3422333"/>
            <a:ext cx="158531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EmployeeId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431899" y="3422333"/>
            <a:ext cx="101572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(PK)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46243" y="3422333"/>
            <a:ext cx="1868210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Unique identifier for staff.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252222" y="3997762"/>
            <a:ext cx="5657731" cy="6941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47961" y="4116467"/>
            <a:ext cx="158531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Title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431899" y="4116467"/>
            <a:ext cx="101572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VARCHAR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846243" y="4116467"/>
            <a:ext cx="1868210" cy="45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Job title (e.g., General Manager, Sales Rep).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52222" y="4691896"/>
            <a:ext cx="5657731" cy="922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47961" y="4810601"/>
            <a:ext cx="158531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ReportsTo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431899" y="4810601"/>
            <a:ext cx="101572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 (FK)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846243" y="4810601"/>
            <a:ext cx="1868210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Recursive FK defining the management hierarchy.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44602" y="5830372"/>
            <a:ext cx="5672971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244602" y="6267093"/>
            <a:ext cx="5672971" cy="1183481"/>
          </a:xfrm>
          <a:prstGeom prst="roundRect">
            <a:avLst>
              <a:gd name="adj" fmla="val 14869"/>
            </a:avLst>
          </a:prstGeom>
          <a:solidFill>
            <a:srgbClr val="4C1F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103" y="6523196"/>
            <a:ext cx="244316" cy="195501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879919" y="6501051"/>
            <a:ext cx="4842153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</a:t>
            </a:r>
            <a:r>
              <a:rPr lang="en-US" sz="15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SupportRepId</a:t>
            </a:r>
            <a:r>
              <a:rPr lang="en-US" sz="15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FK in DIM_CUSTOMER directly links to EmployeeId, enabling Sales Rep performance analysis against customer loyalty metrics.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30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567452"/>
            <a:ext cx="7699534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Building the Snowflake Schema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22233" y="2252901"/>
            <a:ext cx="7699534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Unlike a simple Star Schema, the Chinook model uses a </a:t>
            </a: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Snowflake Schema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dimension tables are normalized into multiple related tables to reduce redundancy.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233" y="2980134"/>
            <a:ext cx="76995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54405" y="3459837"/>
            <a:ext cx="22860" cy="4203621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63717" y="3680579"/>
            <a:ext cx="619125" cy="22860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22233" y="3459837"/>
            <a:ext cx="464344" cy="464344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9438" y="3434060"/>
            <a:ext cx="42993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3350" dirty="0"/>
          </a:p>
        </p:txBody>
      </p:sp>
      <p:sp>
        <p:nvSpPr>
          <p:cNvPr id="10" name="Text 7"/>
          <p:cNvSpPr/>
          <p:nvPr/>
        </p:nvSpPr>
        <p:spPr>
          <a:xfrm>
            <a:off x="1986320" y="3537228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Normalization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986320" y="4090868"/>
            <a:ext cx="6435447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Track table is the product hub but does not store Artist names directly. It links to Album, which links to Artist — reducing redundancy.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63717" y="5219343"/>
            <a:ext cx="619125" cy="22860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22233" y="4998601"/>
            <a:ext cx="464344" cy="464344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9438" y="4972824"/>
            <a:ext cx="42993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3350" dirty="0"/>
          </a:p>
        </p:txBody>
      </p:sp>
      <p:sp>
        <p:nvSpPr>
          <p:cNvPr id="15" name="Text 12"/>
          <p:cNvSpPr/>
          <p:nvPr/>
        </p:nvSpPr>
        <p:spPr>
          <a:xfrm>
            <a:off x="1986320" y="5075992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Logical Flow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986320" y="5629632"/>
            <a:ext cx="6435447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Ideal for digital stores where one Artist has many Albums, and one Album has many Tracks — a natural multi-level hierarchy.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63717" y="6758107"/>
            <a:ext cx="619125" cy="22860"/>
          </a:xfrm>
          <a:prstGeom prst="roundRect">
            <a:avLst>
              <a:gd name="adj" fmla="val 812540"/>
            </a:avLst>
          </a:prstGeom>
          <a:solidFill>
            <a:srgbClr val="E45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22233" y="6537365"/>
            <a:ext cx="464344" cy="464344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9438" y="6511588"/>
            <a:ext cx="42993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3350" dirty="0"/>
          </a:p>
        </p:txBody>
      </p:sp>
      <p:sp>
        <p:nvSpPr>
          <p:cNvPr id="20" name="Text 17"/>
          <p:cNvSpPr/>
          <p:nvPr/>
        </p:nvSpPr>
        <p:spPr>
          <a:xfrm>
            <a:off x="1986320" y="6614755"/>
            <a:ext cx="358306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986320" y="7168396"/>
            <a:ext cx="6435447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Snowflake schemas provide highly organized data for complex reporting on specific genres or media formats.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66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2722483"/>
            <a:ext cx="6630710" cy="68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DAX Analytics &amp; Measures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22233" y="3608546"/>
            <a:ext cx="13185934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 drive the dashboard, the following Key Performance Indicators were developed: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22233" y="3935373"/>
            <a:ext cx="6526887" cy="495300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61792" y="4034433"/>
            <a:ext cx="2476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87254" y="4562713"/>
            <a:ext cx="286643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Total Sales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887254" y="4985861"/>
            <a:ext cx="6196846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SUM(Invoice[Total])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7254" y="5250894"/>
            <a:ext cx="6196846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Core revenue measure aggregating all invoice totals.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81161" y="3935373"/>
            <a:ext cx="6527006" cy="495300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20839" y="4034433"/>
            <a:ext cx="2476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546181" y="4562713"/>
            <a:ext cx="286643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Avg Transaction Value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546181" y="4985861"/>
            <a:ext cx="6196965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ATV = DIVIDE([Total Sales], DISTINCTCOUNT(Invoice[InvoiceId]))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6181" y="5250894"/>
            <a:ext cx="6196965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Average revenue generated per unique invoice.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2233" y="5726192"/>
            <a:ext cx="6526887" cy="495300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61792" y="5825252"/>
            <a:ext cx="2476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87254" y="6353532"/>
            <a:ext cx="286643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YoY Sales Growth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887254" y="6776680"/>
            <a:ext cx="6196846" cy="37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 LastYear = CALCULATE([Total Sales], SAMEPERIODLASTYEAR('Date'[Date])) RETURN DIVIDE([Total Sales] - LastYear, LastYear)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7254" y="7227570"/>
            <a:ext cx="6196846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Year-over-year growth rate for trend analysis.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81161" y="5726192"/>
            <a:ext cx="6527006" cy="495300"/>
          </a:xfrm>
          <a:prstGeom prst="roundRect">
            <a:avLst>
              <a:gd name="adj" fmla="val 480024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520839" y="5825252"/>
            <a:ext cx="2476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7546181" y="6353532"/>
            <a:ext cx="2937629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Top Genre Contribution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7546181" y="6776680"/>
            <a:ext cx="6196965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Sales], CALCULATE([Total Sales], ALL(Genre)))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46181" y="7041713"/>
            <a:ext cx="6196965" cy="17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Percentage share of total sales per genre.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757952"/>
            <a:ext cx="7699534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Dashboard Strategy &amp; Conclusion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22233" y="2221706"/>
            <a:ext cx="769953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dashboard is split into three strategic views, transforming 11 SQL tables into a powerful tool for business strategy and growth.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22233" y="2677239"/>
            <a:ext cx="769953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628" y="2970252"/>
            <a:ext cx="952738" cy="1096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38055" y="3529013"/>
            <a:ext cx="21764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3278148" y="3125033"/>
            <a:ext cx="234529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3278148" y="3517106"/>
            <a:ext cx="234529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Cards · Map · Line Chart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78148" y="3749278"/>
            <a:ext cx="234529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High-level health of the store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162062" y="4076343"/>
            <a:ext cx="5221010" cy="11430"/>
          </a:xfrm>
          <a:prstGeom prst="roundRect">
            <a:avLst>
              <a:gd name="adj" fmla="val 121880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259" y="4105275"/>
            <a:ext cx="1905595" cy="1096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38174" y="4522827"/>
            <a:ext cx="21764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754636" y="4260056"/>
            <a:ext cx="2356485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Catalog Analysis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3754636" y="4652129"/>
            <a:ext cx="235648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Treemap · Bar Chart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754636" y="4884301"/>
            <a:ext cx="235648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Genre performance &amp; Top 10 Artists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38550" y="5211366"/>
            <a:ext cx="4744522" cy="11430"/>
          </a:xfrm>
          <a:prstGeom prst="roundRect">
            <a:avLst>
              <a:gd name="adj" fmla="val 121880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890" y="5240298"/>
            <a:ext cx="2858333" cy="1096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38174" y="5657850"/>
            <a:ext cx="21764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4231005" y="5395079"/>
            <a:ext cx="3391495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Customer &amp; Support Insights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4231005" y="5787152"/>
            <a:ext cx="339149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Scatter Plot (CLV vs. Rep)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231005" y="6019324"/>
            <a:ext cx="339149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Sales team efficiency &amp; customer loyalty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114919" y="6346388"/>
            <a:ext cx="4268153" cy="11430"/>
          </a:xfrm>
          <a:prstGeom prst="roundRect">
            <a:avLst>
              <a:gd name="adj" fmla="val 1218808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02" y="6375321"/>
            <a:ext cx="3811191" cy="109632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538174" y="6792873"/>
            <a:ext cx="217646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4707374" y="6530102"/>
            <a:ext cx="268724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Technical Foundation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4707374" y="6922175"/>
            <a:ext cx="305609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Clear Fact/Dimension Relationships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707374" y="7154347"/>
            <a:ext cx="305609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Advanced DAX measures powering all insights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930</Words>
  <Application>Microsoft Office PowerPoint</Application>
  <PresentationFormat>Custom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Tight</vt:lpstr>
      <vt:lpstr>Calibri</vt:lpstr>
      <vt:lpstr>Aptos</vt:lpstr>
      <vt:lpstr>Consolas</vt:lpstr>
      <vt:lpstr>Inter Tight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EELU</dc:creator>
  <cp:lastModifiedBy>El-Wattaneya</cp:lastModifiedBy>
  <cp:revision>5</cp:revision>
  <dcterms:created xsi:type="dcterms:W3CDTF">2026-03-11T04:33:34Z</dcterms:created>
  <dcterms:modified xsi:type="dcterms:W3CDTF">2026-04-13T16:21:10Z</dcterms:modified>
</cp:coreProperties>
</file>